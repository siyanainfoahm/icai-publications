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with: this is a live working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expectations for the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filters and cards. File: 03-catalogue.png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OTP in controlled environment. File: 04-login.png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print/download disabled in demo. File: 05-flipbook.png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top to bottom of form. File: 06-upload-form.png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File: 07-publishing.png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live open of handbook. Files: 08a, 08b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verbal—no technical stack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as partnership path, not gap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you; open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ICAI Publication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C9A227"/>
                </a:solidFill>
              </a:defRPr>
            </a:pPr>
            <a:r>
              <a:t>Working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8D48A"/>
                </a:solidFill>
              </a:defRPr>
            </a:pPr>
            <a:r>
              <a:t>Public Catalogue, Secure Reader, OTP Login &amp; Admin CMS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Prepared by Siyana Info Solutions Pvt. Ltd.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4572000"/>
            <a:ext cx="4206240" cy="17373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i="1">
                <a:solidFill>
                  <a:srgbClr val="475569"/>
                </a:solidFill>
              </a:defRPr>
            </a:pPr>
            <a:r>
              <a:t>Screenshot:</a:t>
            </a:r>
            <a:br/>
            <a:r>
              <a:t>Portal header or catalogue (optional)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We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D48A"/>
                </a:solidFill>
              </a:defRPr>
            </a:pPr>
            <a:r>
              <a:t>A complete digital publication experience—from browse to read to manage.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Public publication catalogue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Login-based reading access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Flipbook / PDF reader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Admin upload and publishing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577840" cy="4892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i="1">
                <a:solidFill>
                  <a:srgbClr val="475569"/>
                </a:solidFill>
              </a:defRPr>
            </a:pPr>
            <a:r>
              <a:t>[ Optional: 4-panel overview graphic 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Public Catalogue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D48A"/>
                </a:solidFill>
              </a:defRPr>
            </a:pPr>
            <a:r>
              <a:t>Users discover ICAI publications before signing in to read.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Browse ICAI publications in one catalogue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Cover, title, committee, topic and synopsis visible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Featured and latest releases supported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Reading access is protected until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577840" cy="4892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i="1">
                <a:solidFill>
                  <a:srgbClr val="475569"/>
                </a:solidFill>
              </a:defRPr>
            </a:pPr>
            <a:r>
              <a:t>Screenshot:</a:t>
            </a:r>
            <a:br/>
            <a:r>
              <a:t>Homepage / publication listing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Secure Login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D48A"/>
                </a:solidFill>
              </a:defRPr>
            </a:pPr>
            <a:r>
              <a:t>Sign-in options for visitors, members, and administrators.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Non-members login using email OTP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ICAI members connect via SSP SSO in production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Admin users have separate CMS access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Same reader access after successful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577840" cy="4892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i="1">
                <a:solidFill>
                  <a:srgbClr val="475569"/>
                </a:solidFill>
              </a:defRPr>
            </a:pPr>
            <a:r>
              <a:t>Screenshot:</a:t>
            </a:r>
            <a:br/>
            <a:r>
              <a:t>Login page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Flipbook Reader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D48A"/>
                </a:solidFill>
              </a:defRPr>
            </a:pPr>
            <a:r>
              <a:t>Publications open in a secure, session-based reader.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Opens only after login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Page navigation, contents and search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Download can be disabled or restricted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Ideal for journals, handbooks and guides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577840" cy="4892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i="1">
                <a:solidFill>
                  <a:srgbClr val="475569"/>
                </a:solidFill>
              </a:defRPr>
            </a:pPr>
            <a:r>
              <a:t>Screenshot:</a:t>
            </a:r>
            <a:br/>
            <a:r>
              <a:t>Flipbook / PDF reader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Admin CMS — Add Publication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D48A"/>
                </a:solidFill>
              </a:defRPr>
            </a:pPr>
            <a:r>
              <a:t>Administrators add publications through a structured 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Upload PDF and cover image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Add title, committee, topic, keywords and synopsis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PDF, article, or PDF + article formats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5577840" cy="4892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i="1">
                <a:solidFill>
                  <a:srgbClr val="475569"/>
                </a:solidFill>
              </a:defRPr>
            </a:pPr>
            <a:r>
              <a:t>Screenshot:</a:t>
            </a:r>
            <a:br/>
            <a:r>
              <a:t>Publication upload 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Publishing &amp; Access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D48A"/>
                </a:solidFill>
              </a:defRPr>
            </a:pPr>
            <a:r>
              <a:t>Control how each publication appears and who can access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Mark publication as featured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Control download permission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Set visibility for authenticated readers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Draft, Published, Hidden, Archived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577840" cy="4892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i="1">
                <a:solidFill>
                  <a:srgbClr val="475569"/>
                </a:solidFill>
              </a:defRPr>
            </a:pPr>
            <a:r>
              <a:t>Screenshot:</a:t>
            </a:r>
            <a:br/>
            <a:r>
              <a:t>Distribution &amp; status fields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Publications Added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D48A"/>
                </a:solidFill>
              </a:defRPr>
            </a:pPr>
            <a:r>
              <a:t>Sample ICAI records are ready for your review in the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The Chartered Accountant Journal — May 2026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Handbook on Audit &amp; Assurance 2026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Covers and content attached; reader after 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5577840" cy="4892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i="1">
                <a:solidFill>
                  <a:srgbClr val="475569"/>
                </a:solidFill>
              </a:defRPr>
            </a:pPr>
            <a:r>
              <a:t>Screenshot:</a:t>
            </a:r>
            <a:br/>
            <a:r>
              <a:t>Two publication cards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D48A"/>
                </a:solidFill>
              </a:defRPr>
            </a:pPr>
            <a:r>
              <a:t>Simple flows for readers and administrators.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669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Readers: Catalogue → Login → Reader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Admins: CMS → Upload → Publish → Catalogue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17320"/>
            <a:ext cx="5577840" cy="4892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i="1">
                <a:solidFill>
                  <a:srgbClr val="475569"/>
                </a:solidFill>
              </a:defRPr>
            </a:pPr>
            <a:r>
              <a:t>Readers</a:t>
            </a:r>
            <a:br/>
            <a:r>
              <a:t>Catalogue  →  Login  →  Reader</a:t>
            </a:r>
            <a:br/>
            <a:br/>
            <a:r>
              <a:t>Administrators</a:t>
            </a:r>
            <a:br/>
            <a:r>
              <a:t>CMS  →  Upload  →  Publish  →  Catalogue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Production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D48A"/>
                </a:solidFill>
              </a:defRPr>
            </a:pPr>
            <a:r>
              <a:t>Clear steps from demonstration to ICAI production.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ICAI SSP SSO integration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ICAI-approved email gateway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Secure hosting per ICAI policy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Audit logs and analytics enhancement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577840" cy="4892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i="1">
                <a:solidFill>
                  <a:srgbClr val="475569"/>
                </a:solidFill>
              </a:defRPr>
            </a:pPr>
            <a:r>
              <a:t>[ Roadmap / checklist graphic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123444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Demo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E8D48A"/>
                </a:solidFill>
              </a:defRPr>
            </a:pPr>
            <a:r>
              <a:t>The portal is ready for ICAI-specific integration and rollout.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Working portal flow demonstrated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CMS publication management ready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Secure reader access demonstrated</a:t>
            </a:r>
          </a:p>
          <a:p>
            <a:pPr>
              <a:spcAft>
                <a:spcPts val="1000"/>
              </a:spcAft>
              <a:defRPr sz="1700">
                <a:solidFill>
                  <a:srgbClr val="475569"/>
                </a:solidFill>
              </a:defRPr>
            </a:pPr>
            <a:r>
              <a:t>Ready for ICAI-specific integration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17320"/>
            <a:ext cx="5577840" cy="48920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i="1">
                <a:solidFill>
                  <a:srgbClr val="475569"/>
                </a:solidFill>
              </a:defRPr>
            </a:pPr>
            <a:r>
              <a:t>Screenshot:</a:t>
            </a:r>
            <a:br/>
            <a:r>
              <a:t>Collage (optional)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Siyana Info Solutions Pvt. Ltd.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